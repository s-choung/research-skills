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600" y="788400"/>
            <a:ext cx="5040000" cy="280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미래소재디스커버리지원+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600" y="1670400"/>
            <a:ext cx="6480000" cy="243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100" b="1">
                <a:solidFill>
                  <a:srgbClr val="8AB1E3"/>
                </a:solidFill>
                <a:latin typeface="나눔스퀘어 ExtraBold"/>
                <a:ea typeface="나눔스퀘어 ExtraBold"/>
              </a:rPr>
              <a:t>키워드1</a:t>
            </a:r>
            <a:r>
              <a:rPr sz="3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 기반
</a:t>
            </a:r>
            <a:r>
              <a:rPr sz="3100" b="1">
                <a:solidFill>
                  <a:srgbClr val="FFC18C"/>
                </a:solidFill>
                <a:latin typeface="나눔스퀘어 ExtraBold"/>
                <a:ea typeface="나눔스퀘어 ExtraBold"/>
              </a:rPr>
              <a:t>키워드2</a:t>
            </a:r>
            <a:r>
              <a:rPr sz="31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 핵심소재
나머지 제목 줄
마지막 제목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600" y="4672800"/>
            <a:ext cx="2160000" cy="29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2026.06.11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600" y="5731200"/>
            <a:ext cx="1512000" cy="2916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연구책임자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68000" y="5691600"/>
            <a:ext cx="0" cy="306000"/>
          </a:xfrm>
          <a:prstGeom prst="line">
            <a:avLst/>
          </a:prstGeom>
          <a:ln w="1905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12000" y="5731200"/>
            <a:ext cx="1800000" cy="2916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홍길동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6400"/>
            <a:ext cx="12192000" cy="129600"/>
          </a:xfrm>
          <a:prstGeom prst="rect">
            <a:avLst/>
          </a:prstGeom>
          <a:solidFill>
            <a:srgbClr val="FC98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53600"/>
          </a:xfrm>
          <a:prstGeom prst="rect">
            <a:avLst/>
          </a:prstGeom>
          <a:gradFill>
            <a:gsLst>
              <a:gs pos="0">
                <a:srgbClr val="3A3939"/>
              </a:gs>
              <a:gs pos="100000">
                <a:srgbClr val="000000">
                  <a:alpha val="59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80000"/>
            <a:ext cx="10260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슬라이드 제목</a:t>
            </a:r>
            <a:r>
              <a:rPr sz="22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  -  부제목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0000" y="198000"/>
            <a:ext cx="144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나눔스퀘어 Bold"/>
                <a:ea typeface="나눔스퀘어 Bold"/>
              </a:rPr>
              <a:t>2/16</a:t>
            </a:r>
          </a:p>
        </p:txBody>
      </p:sp>
      <p:sp>
        <p:nvSpPr>
          <p:cNvPr id="7" name="Round Same Side Corner Rectangle 6"/>
          <p:cNvSpPr/>
          <p:nvPr/>
        </p:nvSpPr>
        <p:spPr>
          <a:xfrm>
            <a:off x="216000" y="1065600"/>
            <a:ext cx="5580000" cy="1080000"/>
          </a:xfrm>
          <a:prstGeom prst="round2SameRect">
            <a:avLst>
              <a:gd name="adj1" fmla="val 31504"/>
              <a:gd name="adj2" fmla="val 0"/>
            </a:avLst>
          </a:prstGeom>
          <a:solidFill>
            <a:srgbClr val="8888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000" y="1065600"/>
            <a:ext cx="5580000" cy="5328000"/>
          </a:xfrm>
          <a:prstGeom prst="roundRect">
            <a:avLst>
              <a:gd name="adj" fmla="val 6386"/>
            </a:avLst>
          </a:prstGeom>
          <a:noFill/>
          <a:ln w="28575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6000" y="822600"/>
            <a:ext cx="3960000" cy="486000"/>
          </a:xfrm>
          <a:prstGeom prst="roundRect">
            <a:avLst>
              <a:gd name="adj" fmla="val 39062"/>
            </a:avLst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기존 접근 ( 한계 )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6400800" y="1065600"/>
            <a:ext cx="5580000" cy="1080000"/>
          </a:xfrm>
          <a:prstGeom prst="round2SameRect">
            <a:avLst>
              <a:gd name="adj1" fmla="val 31504"/>
              <a:gd name="adj2" fmla="val 0"/>
            </a:avLst>
          </a:prstGeom>
          <a:solidFill>
            <a:srgbClr val="324A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65600"/>
            <a:ext cx="5580000" cy="5328000"/>
          </a:xfrm>
          <a:prstGeom prst="roundRect">
            <a:avLst>
              <a:gd name="adj" fmla="val 6386"/>
            </a:avLst>
          </a:prstGeom>
          <a:solidFill>
            <a:srgbClr val="FFFFFF"/>
          </a:solidFill>
          <a:ln w="28575">
            <a:solidFill>
              <a:srgbClr val="0F0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0800" y="822600"/>
            <a:ext cx="3960000" cy="486000"/>
          </a:xfrm>
          <a:prstGeom prst="roundRect">
            <a:avLst>
              <a:gd name="adj" fmla="val 39062"/>
            </a:avLst>
          </a:prstGeom>
          <a:solidFill>
            <a:srgbClr val="0F0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제안 접근 ( 핵심 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4104000"/>
            <a:ext cx="2286000" cy="1522800"/>
          </a:xfrm>
          <a:prstGeom prst="roundRect">
            <a:avLst>
              <a:gd name="adj" fmla="val 12808"/>
            </a:avLst>
          </a:prstGeom>
          <a:noFill/>
          <a:ln w="12700">
            <a:solidFill>
              <a:srgbClr val="626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000" y="5724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나눔스퀘어 Bold"/>
                <a:ea typeface="나눔스퀘어 Bold"/>
              </a:rPr>
              <a:t>카드 캡션 </a:t>
            </a:r>
            <a:r>
              <a:rPr sz="1400" b="1">
                <a:solidFill>
                  <a:srgbClr val="0F0F70"/>
                </a:solidFill>
                <a:latin typeface="나눔스퀘어 ExtraBold"/>
                <a:ea typeface="나눔스퀘어 ExtraBold"/>
              </a:rPr>
              <a:t>강조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000" y="1530000"/>
            <a:ext cx="288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0F0F70"/>
                </a:solidFill>
                <a:latin typeface="나눔스퀘어 ExtraBold"/>
                <a:ea typeface="나눔스퀘어 ExtraBold"/>
              </a:rPr>
              <a:t>섹션 소제목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000" y="1908000"/>
            <a:ext cx="4968000" cy="72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나눔스퀘어 Bold"/>
                <a:ea typeface="나눔스퀘어 Bold"/>
              </a:rPr>
              <a:t>본문 텍스트에 </a:t>
            </a:r>
            <a:r>
              <a:rPr sz="1600" b="1">
                <a:solidFill>
                  <a:srgbClr val="FA901E"/>
                </a:solidFill>
                <a:latin typeface="나눔스퀘어 ExtraBold"/>
                <a:ea typeface="나눔스퀘어 ExtraBold"/>
              </a:rPr>
              <a:t>오렌지 강조</a:t>
            </a:r>
            <a:r>
              <a:rPr sz="1600" b="1">
                <a:solidFill>
                  <a:srgbClr val="000000"/>
                </a:solidFill>
                <a:latin typeface="나눔스퀘어 Bold"/>
                <a:ea typeface="나눔스퀘어 Bold"/>
              </a:rPr>
              <a:t>와 </a:t>
            </a:r>
            <a:r>
              <a:rPr sz="1600" b="1">
                <a:solidFill>
                  <a:srgbClr val="0F0F70"/>
                </a:solidFill>
                <a:latin typeface="나눔스퀘어 ExtraBold"/>
                <a:ea typeface="나눔스퀘어 ExtraBold"/>
              </a:rPr>
              <a:t>네이비 강조</a:t>
            </a:r>
            <a:r>
              <a:rPr sz="1600" b="1">
                <a:solidFill>
                  <a:srgbClr val="000000"/>
                </a:solidFill>
                <a:latin typeface="나눔스퀘어 Bold"/>
                <a:ea typeface="나눔스퀘어 Bold"/>
              </a:rPr>
              <a:t>를 섞는다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6400"/>
            <a:ext cx="12192000" cy="129600"/>
          </a:xfrm>
          <a:prstGeom prst="rect">
            <a:avLst/>
          </a:prstGeom>
          <a:solidFill>
            <a:srgbClr val="FC9828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ad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53600"/>
          </a:xfrm>
          <a:prstGeom prst="rect">
            <a:avLst/>
          </a:prstGeom>
          <a:gradFill>
            <a:gsLst>
              <a:gs pos="0">
                <a:srgbClr val="3A3939"/>
              </a:gs>
              <a:gs pos="100000">
                <a:srgbClr val="000000">
                  <a:alpha val="59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80000"/>
            <a:ext cx="10260000" cy="36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요약 컴포넌트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0000" y="198000"/>
            <a:ext cx="1440000" cy="2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나눔스퀘어 Bold"/>
                <a:ea typeface="나눔스퀘어 Bold"/>
              </a:rPr>
              <a:t>3/16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" y="1152000"/>
            <a:ext cx="2638800" cy="1886400"/>
          </a:xfrm>
          <a:prstGeom prst="roundRect">
            <a:avLst>
              <a:gd name="adj" fmla="val 6386"/>
            </a:avLst>
          </a:prstGeom>
          <a:gradFill>
            <a:gsLst>
              <a:gs pos="0">
                <a:srgbClr val="FDC88F"/>
              </a:gs>
              <a:gs pos="34000">
                <a:srgbClr val="FEE4C7"/>
              </a:gs>
              <a:gs pos="100000">
                <a:srgbClr val="FFFFFF"/>
              </a:gs>
            </a:gsLst>
            <a:lin ang="5400000" scaled="1"/>
          </a:gradFill>
          <a:ln w="28575">
            <a:solidFill>
              <a:srgbClr val="FA9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9200" y="972000"/>
            <a:ext cx="2268000" cy="360000"/>
          </a:xfrm>
          <a:prstGeom prst="roundRect">
            <a:avLst>
              <a:gd name="adj" fmla="val 39062"/>
            </a:avLst>
          </a:prstGeom>
          <a:solidFill>
            <a:srgbClr val="FA9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그라데이션 카드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8800" y="1429200"/>
            <a:ext cx="1800000" cy="414000"/>
          </a:xfrm>
          <a:prstGeom prst="roundRect">
            <a:avLst>
              <a:gd name="adj" fmla="val 50000"/>
            </a:avLst>
          </a:prstGeom>
          <a:solidFill>
            <a:srgbClr val="475D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알약 배지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4400" y="4708800"/>
            <a:ext cx="5500800" cy="885600"/>
          </a:xfrm>
          <a:prstGeom prst="roundRect">
            <a:avLst>
              <a:gd name="adj" fmla="val 23741"/>
            </a:avLst>
          </a:prstGeom>
          <a:solidFill>
            <a:srgbClr val="FFFFFF"/>
          </a:solidFill>
          <a:ln w="28575">
            <a:solidFill>
              <a:srgbClr val="C5A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F0F70"/>
                </a:solidFill>
                <a:latin typeface="나눔스퀘어 ExtraBold"/>
                <a:ea typeface="나눔스퀘어 ExtraBold"/>
              </a:rPr>
              <a:t>핵심 결론</a:t>
            </a:r>
            <a:r>
              <a:rPr sz="1800" b="1">
                <a:solidFill>
                  <a:srgbClr val="000000"/>
                </a:solidFill>
                <a:latin typeface="나눔스퀘어 Bold"/>
                <a:ea typeface="나눔스퀘어 Bold"/>
              </a:rPr>
              <a:t>을 담는 골드 요약 밴드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68800"/>
            <a:ext cx="12192000" cy="889200"/>
          </a:xfrm>
          <a:prstGeom prst="rect">
            <a:avLst/>
          </a:prstGeom>
          <a:solidFill>
            <a:srgbClr val="0F0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A901E"/>
                </a:solidFill>
                <a:latin typeface="나눔스퀘어 ExtraBold"/>
                <a:ea typeface="나눔스퀘어 ExtraBold"/>
              </a:rPr>
              <a:t>강조 단어</a:t>
            </a:r>
            <a:r>
              <a:rPr sz="2000" b="1">
                <a:solidFill>
                  <a:srgbClr val="FFFFFF"/>
                </a:solidFill>
                <a:latin typeface="나눔스퀘어 Bold"/>
                <a:ea typeface="나눔스퀘어 Bold"/>
              </a:rPr>
              <a:t>가 들어가는 네이비 푸터 밴드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0000" y="2952000"/>
            <a:ext cx="93132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나눔스퀘어 ExtraBold"/>
                <a:ea typeface="나눔스퀘어 ExtraBold"/>
              </a:rPr>
              <a:t>경청해 주셔서 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5940000"/>
            <a:ext cx="93132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나눔스퀘어 Bold"/>
                <a:ea typeface="나눔스퀘어 Bold"/>
              </a:rPr>
              <a:t>프로젝트 부제 또는 워드마크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